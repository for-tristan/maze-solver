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0" r:id="rId13"/>
  </p:sldIdLst>
  <p:sldSz cx="14630400" cy="82296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78" userDrawn="1">
          <p15:clr>
            <a:srgbClr val="A4A3A4"/>
          </p15:clr>
        </p15:guide>
        <p15:guide id="2" pos="46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B6A2"/>
    <a:srgbClr val="F9F8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578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219826" y="1184910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0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0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0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4.png"/><Relationship Id="rId13" Type="http://schemas.openxmlformats.org/officeDocument/2006/relationships/tags" Target="../tags/tag11.xml"/><Relationship Id="rId12" Type="http://schemas.openxmlformats.org/officeDocument/2006/relationships/image" Target="../media/image3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8F5">
              <a:alpha val="85000"/>
            </a:srgbClr>
          </a:solidFill>
        </p:spPr>
      </p:sp>
      <p:sp>
        <p:nvSpPr>
          <p:cNvPr id="6" name="Text 1"/>
          <p:cNvSpPr/>
          <p:nvPr/>
        </p:nvSpPr>
        <p:spPr>
          <a:xfrm>
            <a:off x="864037" y="2951321"/>
            <a:ext cx="11567398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Maze Game – Technical Documentation</a:t>
            </a:r>
            <a:endParaRPr lang="en-US" sz="48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7" name="Text 2"/>
          <p:cNvSpPr/>
          <p:nvPr/>
        </p:nvSpPr>
        <p:spPr>
          <a:xfrm>
            <a:off x="864037" y="4093131"/>
            <a:ext cx="12902327" cy="11851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Maze Game is a Python game built using Pygame. The player navigates through a procedurally generated maze while being chased by an AI-controlled monster that uses the A* pathfinding algorithm. The game features fog of war, smooth camera movement, configurable settings, background music, and a fullscreen UI.</a:t>
            </a:r>
            <a:endParaRPr lang="en-US" sz="19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941705" y="5496560"/>
            <a:ext cx="6469380" cy="2566670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9" name="Shape 2"/>
          <p:cNvSpPr/>
          <p:nvPr/>
        </p:nvSpPr>
        <p:spPr>
          <a:xfrm>
            <a:off x="918845" y="5496560"/>
            <a:ext cx="91440" cy="2566670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20" name="Text 3"/>
          <p:cNvSpPr/>
          <p:nvPr/>
        </p:nvSpPr>
        <p:spPr>
          <a:xfrm>
            <a:off x="2292985" y="5648325"/>
            <a:ext cx="3533140" cy="6699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36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Developers</a:t>
            </a:r>
            <a:endParaRPr lang="en-US" sz="36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093470" y="6056630"/>
            <a:ext cx="5932170" cy="19862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George Assem Aziz 2301325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Marawn Montaser Fakhry 2301343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Ziad Ashraf Saban 2301320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Ziad Ashraf Saad 2301279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285750" indent="-285750" algn="l">
              <a:lnSpc>
                <a:spcPts val="2650"/>
              </a:lnSpc>
              <a:buFont typeface="Arial" panose="020B0604020202020204" pitchFamily="34" charset="0"/>
              <a:buChar char="•"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Amir Abdelrahim Ahmed 2300789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0" indent="0" algn="l">
              <a:lnSpc>
                <a:spcPts val="2650"/>
              </a:lnSpc>
              <a:buNone/>
            </a:pP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590" y="5989955"/>
            <a:ext cx="3793490" cy="213360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864037" y="2236946"/>
            <a:ext cx="617220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Overview</a:t>
            </a:r>
            <a:endParaRPr lang="en-US" sz="4850" dirty="0"/>
          </a:p>
        </p:txBody>
      </p:sp>
      <p:sp>
        <p:nvSpPr>
          <p:cNvPr id="50" name="Text 1"/>
          <p:cNvSpPr/>
          <p:nvPr/>
        </p:nvSpPr>
        <p:spPr>
          <a:xfrm>
            <a:off x="864037" y="3502223"/>
            <a:ext cx="12902327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project is divided into three main components:</a:t>
            </a:r>
            <a:endParaRPr lang="en-US" sz="1900" dirty="0"/>
          </a:p>
        </p:txBody>
      </p:sp>
      <p:sp>
        <p:nvSpPr>
          <p:cNvPr id="51" name="Shape 2"/>
          <p:cNvSpPr/>
          <p:nvPr>
            <p:custDataLst>
              <p:tags r:id="rId2"/>
            </p:custDataLst>
          </p:nvPr>
        </p:nvSpPr>
        <p:spPr>
          <a:xfrm>
            <a:off x="864037" y="4174927"/>
            <a:ext cx="4136231" cy="1817608"/>
          </a:xfrm>
          <a:prstGeom prst="roundRect">
            <a:avLst>
              <a:gd name="adj" fmla="val 2037"/>
            </a:avLst>
          </a:prstGeom>
          <a:solidFill>
            <a:srgbClr val="EDEBE3"/>
          </a:solidFill>
        </p:spPr>
      </p:sp>
      <p:sp>
        <p:nvSpPr>
          <p:cNvPr id="52" name="Text 3"/>
          <p:cNvSpPr/>
          <p:nvPr>
            <p:custDataLst>
              <p:tags r:id="rId3"/>
            </p:custDataLst>
          </p:nvPr>
        </p:nvSpPr>
        <p:spPr>
          <a:xfrm>
            <a:off x="1110853" y="4421743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menu.py</a:t>
            </a:r>
            <a:endParaRPr lang="en-US" sz="2400" dirty="0"/>
          </a:p>
        </p:txBody>
      </p:sp>
      <p:sp>
        <p:nvSpPr>
          <p:cNvPr id="53" name="Text 4"/>
          <p:cNvSpPr/>
          <p:nvPr>
            <p:custDataLst>
              <p:tags r:id="rId4"/>
            </p:custDataLst>
          </p:nvPr>
        </p:nvSpPr>
        <p:spPr>
          <a:xfrm>
            <a:off x="1110853" y="4955619"/>
            <a:ext cx="3642598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Game configuration menu</a:t>
            </a:r>
            <a:endParaRPr lang="en-US" sz="1900" dirty="0"/>
          </a:p>
        </p:txBody>
      </p:sp>
      <p:sp>
        <p:nvSpPr>
          <p:cNvPr id="54" name="Shape 5"/>
          <p:cNvSpPr/>
          <p:nvPr>
            <p:custDataLst>
              <p:tags r:id="rId5"/>
            </p:custDataLst>
          </p:nvPr>
        </p:nvSpPr>
        <p:spPr>
          <a:xfrm>
            <a:off x="5247084" y="4174927"/>
            <a:ext cx="4136231" cy="1817608"/>
          </a:xfrm>
          <a:prstGeom prst="roundRect">
            <a:avLst>
              <a:gd name="adj" fmla="val 2037"/>
            </a:avLst>
          </a:prstGeom>
          <a:solidFill>
            <a:srgbClr val="EDEBE3"/>
          </a:solidFill>
        </p:spPr>
      </p:sp>
      <p:sp>
        <p:nvSpPr>
          <p:cNvPr id="55" name="Text 6"/>
          <p:cNvSpPr/>
          <p:nvPr>
            <p:custDataLst>
              <p:tags r:id="rId6"/>
            </p:custDataLst>
          </p:nvPr>
        </p:nvSpPr>
        <p:spPr>
          <a:xfrm>
            <a:off x="5493901" y="4421743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game.py</a:t>
            </a:r>
            <a:endParaRPr lang="en-US" sz="2400" dirty="0"/>
          </a:p>
        </p:txBody>
      </p:sp>
      <p:sp>
        <p:nvSpPr>
          <p:cNvPr id="56" name="Text 7"/>
          <p:cNvSpPr/>
          <p:nvPr>
            <p:custDataLst>
              <p:tags r:id="rId7"/>
            </p:custDataLst>
          </p:nvPr>
        </p:nvSpPr>
        <p:spPr>
          <a:xfrm>
            <a:off x="5493901" y="4955619"/>
            <a:ext cx="3642598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Core gameplay loop and rendering</a:t>
            </a:r>
            <a:endParaRPr lang="en-US" sz="1900" dirty="0"/>
          </a:p>
        </p:txBody>
      </p:sp>
      <p:sp>
        <p:nvSpPr>
          <p:cNvPr id="57" name="Shape 8"/>
          <p:cNvSpPr/>
          <p:nvPr>
            <p:custDataLst>
              <p:tags r:id="rId8"/>
            </p:custDataLst>
          </p:nvPr>
        </p:nvSpPr>
        <p:spPr>
          <a:xfrm>
            <a:off x="9630132" y="4174927"/>
            <a:ext cx="4136231" cy="1817608"/>
          </a:xfrm>
          <a:prstGeom prst="roundRect">
            <a:avLst>
              <a:gd name="adj" fmla="val 2037"/>
            </a:avLst>
          </a:prstGeom>
          <a:solidFill>
            <a:srgbClr val="EDEBE3"/>
          </a:solidFill>
        </p:spPr>
      </p:sp>
      <p:sp>
        <p:nvSpPr>
          <p:cNvPr id="58" name="Text 9"/>
          <p:cNvSpPr/>
          <p:nvPr>
            <p:custDataLst>
              <p:tags r:id="rId9"/>
            </p:custDataLst>
          </p:nvPr>
        </p:nvSpPr>
        <p:spPr>
          <a:xfrm>
            <a:off x="9876949" y="4421743"/>
            <a:ext cx="3086100" cy="38576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monster_ai.py</a:t>
            </a:r>
            <a:endParaRPr lang="en-US" sz="2400" dirty="0"/>
          </a:p>
        </p:txBody>
      </p:sp>
      <p:sp>
        <p:nvSpPr>
          <p:cNvPr id="59" name="Text 10"/>
          <p:cNvSpPr/>
          <p:nvPr>
            <p:custDataLst>
              <p:tags r:id="rId10"/>
            </p:custDataLst>
          </p:nvPr>
        </p:nvSpPr>
        <p:spPr>
          <a:xfrm>
            <a:off x="9876949" y="4955619"/>
            <a:ext cx="3642598" cy="79009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Monster pathfinding and AI logic</a:t>
            </a:r>
            <a:endParaRPr lang="en-US" sz="1900" dirty="0"/>
          </a:p>
        </p:txBody>
      </p:sp>
      <p:pic>
        <p:nvPicPr>
          <p:cNvPr id="61" name="Picture 6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420995" y="5992495"/>
            <a:ext cx="3788410" cy="2131060"/>
          </a:xfrm>
          <a:prstGeom prst="rect">
            <a:avLst/>
          </a:prstGeom>
        </p:spPr>
      </p:pic>
      <p:pic>
        <p:nvPicPr>
          <p:cNvPr id="63" name="Picture 6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9799320" y="5992495"/>
            <a:ext cx="3783330" cy="2131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740093" y="727472"/>
            <a:ext cx="5286970" cy="6609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Game Features</a:t>
            </a:r>
            <a:endParaRPr lang="en-US" sz="41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8" name="Shape 1"/>
          <p:cNvSpPr/>
          <p:nvPr/>
        </p:nvSpPr>
        <p:spPr>
          <a:xfrm>
            <a:off x="740093" y="1811298"/>
            <a:ext cx="6469380" cy="1264087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19" name="Shape 2"/>
          <p:cNvSpPr/>
          <p:nvPr/>
        </p:nvSpPr>
        <p:spPr>
          <a:xfrm>
            <a:off x="717233" y="1811298"/>
            <a:ext cx="91440" cy="1264087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20" name="Text 3"/>
          <p:cNvSpPr/>
          <p:nvPr/>
        </p:nvSpPr>
        <p:spPr>
          <a:xfrm>
            <a:off x="1042988" y="2045613"/>
            <a:ext cx="3532942" cy="330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Procedural Maze Generation</a:t>
            </a:r>
            <a:endParaRPr lang="en-US" sz="20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21" name="Text 4"/>
          <p:cNvSpPr/>
          <p:nvPr/>
        </p:nvSpPr>
        <p:spPr>
          <a:xfrm>
            <a:off x="1042988" y="2502813"/>
            <a:ext cx="593217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With loops for increased complexity.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7420928" y="1811298"/>
            <a:ext cx="6469380" cy="1264087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23" name="Shape 6"/>
          <p:cNvSpPr/>
          <p:nvPr/>
        </p:nvSpPr>
        <p:spPr>
          <a:xfrm>
            <a:off x="7398067" y="1811298"/>
            <a:ext cx="91440" cy="1264087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24" name="Text 7"/>
          <p:cNvSpPr/>
          <p:nvPr/>
        </p:nvSpPr>
        <p:spPr>
          <a:xfrm>
            <a:off x="7723823" y="2045613"/>
            <a:ext cx="2643426" cy="330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A* Pathfinding AI</a:t>
            </a:r>
            <a:endParaRPr lang="en-US" sz="20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25" name="Text 8"/>
          <p:cNvSpPr/>
          <p:nvPr/>
        </p:nvSpPr>
        <p:spPr>
          <a:xfrm>
            <a:off x="7723823" y="2502813"/>
            <a:ext cx="593217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Monster chases the player using an efficient algorithm.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740093" y="3286839"/>
            <a:ext cx="6469380" cy="1264087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27" name="Shape 10"/>
          <p:cNvSpPr/>
          <p:nvPr/>
        </p:nvSpPr>
        <p:spPr>
          <a:xfrm>
            <a:off x="717233" y="3286839"/>
            <a:ext cx="91440" cy="1264087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28" name="Text 11"/>
          <p:cNvSpPr/>
          <p:nvPr/>
        </p:nvSpPr>
        <p:spPr>
          <a:xfrm>
            <a:off x="1042988" y="3521154"/>
            <a:ext cx="2643426" cy="330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Fog of War</a:t>
            </a:r>
            <a:endParaRPr lang="en-US" sz="20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1042988" y="3978354"/>
            <a:ext cx="593217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Smooth vision transitions for an immersive experience.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7420928" y="3286839"/>
            <a:ext cx="6469380" cy="1264087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31" name="Shape 14"/>
          <p:cNvSpPr/>
          <p:nvPr/>
        </p:nvSpPr>
        <p:spPr>
          <a:xfrm>
            <a:off x="7398067" y="3286839"/>
            <a:ext cx="91440" cy="1264087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32" name="Text 15"/>
          <p:cNvSpPr/>
          <p:nvPr/>
        </p:nvSpPr>
        <p:spPr>
          <a:xfrm>
            <a:off x="7723823" y="3521154"/>
            <a:ext cx="3405783" cy="330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Smooth Camera Movement</a:t>
            </a:r>
            <a:endParaRPr lang="en-US" sz="20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7723823" y="3978354"/>
            <a:ext cx="593217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Camera is always centered on the player.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740093" y="4762381"/>
            <a:ext cx="6469380" cy="1264087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35" name="Shape 18"/>
          <p:cNvSpPr/>
          <p:nvPr/>
        </p:nvSpPr>
        <p:spPr>
          <a:xfrm>
            <a:off x="717233" y="4762381"/>
            <a:ext cx="91440" cy="1264087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36" name="Text 19"/>
          <p:cNvSpPr/>
          <p:nvPr/>
        </p:nvSpPr>
        <p:spPr>
          <a:xfrm>
            <a:off x="1042988" y="4996696"/>
            <a:ext cx="3794403" cy="330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Fullscreen, Borderless Window</a:t>
            </a:r>
            <a:endParaRPr lang="en-US" sz="20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1042988" y="5453896"/>
            <a:ext cx="593217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Optimized for an uninterrupted gaming experience.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38" name="Shape 21"/>
          <p:cNvSpPr/>
          <p:nvPr/>
        </p:nvSpPr>
        <p:spPr>
          <a:xfrm>
            <a:off x="7420928" y="4762381"/>
            <a:ext cx="6469380" cy="1264087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39" name="Shape 22"/>
          <p:cNvSpPr/>
          <p:nvPr/>
        </p:nvSpPr>
        <p:spPr>
          <a:xfrm>
            <a:off x="7398067" y="4762381"/>
            <a:ext cx="91440" cy="1264087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40" name="Text 23"/>
          <p:cNvSpPr/>
          <p:nvPr/>
        </p:nvSpPr>
        <p:spPr>
          <a:xfrm>
            <a:off x="7723823" y="4996696"/>
            <a:ext cx="2694265" cy="330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Configurable Settings</a:t>
            </a:r>
            <a:endParaRPr lang="en-US" sz="20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41" name="Text 24"/>
          <p:cNvSpPr/>
          <p:nvPr/>
        </p:nvSpPr>
        <p:spPr>
          <a:xfrm>
            <a:off x="7723823" y="5453896"/>
            <a:ext cx="593217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Adjust maze size, tile size, and vision radius.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2" name="Shape 25"/>
          <p:cNvSpPr/>
          <p:nvPr/>
        </p:nvSpPr>
        <p:spPr>
          <a:xfrm>
            <a:off x="740093" y="6237923"/>
            <a:ext cx="6469380" cy="1264087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43" name="Shape 26"/>
          <p:cNvSpPr/>
          <p:nvPr/>
        </p:nvSpPr>
        <p:spPr>
          <a:xfrm>
            <a:off x="717233" y="6237923"/>
            <a:ext cx="91440" cy="1264087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44" name="Text 27"/>
          <p:cNvSpPr/>
          <p:nvPr/>
        </p:nvSpPr>
        <p:spPr>
          <a:xfrm>
            <a:off x="1042988" y="6472237"/>
            <a:ext cx="2643426" cy="330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Background Music</a:t>
            </a:r>
            <a:endParaRPr lang="en-US" sz="20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45" name="Text 28"/>
          <p:cNvSpPr/>
          <p:nvPr/>
        </p:nvSpPr>
        <p:spPr>
          <a:xfrm>
            <a:off x="1042988" y="6929438"/>
            <a:ext cx="593217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With a convenient mute toggle.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6" name="Shape 29"/>
          <p:cNvSpPr/>
          <p:nvPr/>
        </p:nvSpPr>
        <p:spPr>
          <a:xfrm>
            <a:off x="7420928" y="6237923"/>
            <a:ext cx="6469380" cy="1264087"/>
          </a:xfrm>
          <a:prstGeom prst="roundRect">
            <a:avLst>
              <a:gd name="adj" fmla="val 8680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</p:sp>
      <p:sp>
        <p:nvSpPr>
          <p:cNvPr id="47" name="Shape 30"/>
          <p:cNvSpPr/>
          <p:nvPr/>
        </p:nvSpPr>
        <p:spPr>
          <a:xfrm>
            <a:off x="7398067" y="6237923"/>
            <a:ext cx="91440" cy="1264087"/>
          </a:xfrm>
          <a:prstGeom prst="roundRect">
            <a:avLst>
              <a:gd name="adj" fmla="val 34692"/>
            </a:avLst>
          </a:prstGeom>
          <a:solidFill>
            <a:srgbClr val="28282F"/>
          </a:solidFill>
        </p:spPr>
      </p:sp>
      <p:sp>
        <p:nvSpPr>
          <p:cNvPr id="48" name="Text 31"/>
          <p:cNvSpPr/>
          <p:nvPr/>
        </p:nvSpPr>
        <p:spPr>
          <a:xfrm>
            <a:off x="7723823" y="6472237"/>
            <a:ext cx="2643426" cy="33039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UI Buttons</a:t>
            </a:r>
            <a:endParaRPr lang="en-US" sz="20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49" name="Text 32"/>
          <p:cNvSpPr/>
          <p:nvPr/>
        </p:nvSpPr>
        <p:spPr>
          <a:xfrm>
            <a:off x="7723823" y="6929438"/>
            <a:ext cx="5932170" cy="3382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Exit and mute buttons for easy control.</a:t>
            </a:r>
            <a:endParaRPr lang="en-US" sz="16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89585" y="6376035"/>
            <a:ext cx="447675" cy="457200"/>
          </a:xfrm>
          <a:prstGeom prst="rect">
            <a:avLst/>
          </a:prstGeom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89585" y="6938010"/>
            <a:ext cx="466725" cy="466725"/>
          </a:xfrm>
          <a:prstGeom prst="rect">
            <a:avLst/>
          </a:prstGeom>
        </p:spPr>
      </p:pic>
      <p:sp>
        <p:nvSpPr>
          <p:cNvPr id="52" name="Text Box 51"/>
          <p:cNvSpPr txBox="1"/>
          <p:nvPr/>
        </p:nvSpPr>
        <p:spPr>
          <a:xfrm>
            <a:off x="5514975" y="6534150"/>
            <a:ext cx="15767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latin typeface="Arial Black" panose="020B0A04020102020204" charset="0"/>
                <a:cs typeface="Arial Black" panose="020B0A04020102020204" charset="0"/>
              </a:rPr>
              <a:t>Tranquil</a:t>
            </a:r>
            <a:r>
              <a:rPr lang="en-US"/>
              <a:t> 🎶</a:t>
            </a:r>
            <a:endParaRPr lang="en-US"/>
          </a:p>
          <a:p>
            <a:r>
              <a:rPr lang="en-US"/>
              <a:t>by. Jeorje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716762"/>
            <a:ext cx="617220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File Structure</a:t>
            </a:r>
            <a:endParaRPr lang="en-US" sz="48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4037" y="2982039"/>
            <a:ext cx="12902327" cy="3530679"/>
          </a:xfrm>
          <a:prstGeom prst="roundRect">
            <a:avLst>
              <a:gd name="adj" fmla="val 1049"/>
            </a:avLst>
          </a:prstGeom>
          <a:solidFill>
            <a:srgbClr val="ECEBE8"/>
          </a:solidFill>
        </p:spPr>
      </p:sp>
      <p:sp>
        <p:nvSpPr>
          <p:cNvPr id="4" name="Shape 2"/>
          <p:cNvSpPr/>
          <p:nvPr/>
        </p:nvSpPr>
        <p:spPr>
          <a:xfrm>
            <a:off x="851773" y="2982039"/>
            <a:ext cx="12926854" cy="3530679"/>
          </a:xfrm>
          <a:prstGeom prst="roundRect">
            <a:avLst>
              <a:gd name="adj" fmla="val 1049"/>
            </a:avLst>
          </a:prstGeom>
          <a:solidFill>
            <a:srgbClr val="ECEBE8"/>
          </a:solidFill>
        </p:spPr>
      </p:sp>
      <p:sp>
        <p:nvSpPr>
          <p:cNvPr id="5" name="Text 3"/>
          <p:cNvSpPr/>
          <p:nvPr/>
        </p:nvSpPr>
        <p:spPr>
          <a:xfrm>
            <a:off x="1098590" y="3167182"/>
            <a:ext cx="12433221" cy="316039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maze_game/
│
├── menu.py # Settings menu
├── game.py # Main game logic
├── monster_ai.py # AI pathfinding logic
├── config.py # Auto-generated configuration file
├── Tranquil.mp3 # Background music
</a:t>
            </a:r>
            <a:endParaRPr lang="en-US" sz="1900" b="1" dirty="0">
              <a:solidFill>
                <a:srgbClr val="161613"/>
              </a:solidFill>
              <a:highlight>
                <a:srgbClr val="ECEBE8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2670" y="3256915"/>
            <a:ext cx="4464050" cy="29698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421838"/>
            <a:ext cx="4591288" cy="47934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menu.py – Settings Menu</a:t>
            </a:r>
            <a:endParaRPr lang="en-US" sz="30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2095" y="1208008"/>
            <a:ext cx="13486209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menu system allows the player to configure game parameters before starting the game.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2095" y="1779389"/>
            <a:ext cx="3068360" cy="383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Purpose</a:t>
            </a:r>
            <a:endParaRPr lang="en-US" sz="24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72095" y="2316242"/>
            <a:ext cx="6555938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Adjust maze size and gameplay parameters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2095" y="2615446"/>
            <a:ext cx="6555938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Save settings to config.py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2095" y="2914650"/>
            <a:ext cx="6555938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Launch the main game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509986" y="1779389"/>
            <a:ext cx="3126343" cy="383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Configurable Settings</a:t>
            </a:r>
            <a:endParaRPr lang="en-US" sz="24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509986" y="2335411"/>
            <a:ext cx="6555938" cy="2239328"/>
          </a:xfrm>
          <a:prstGeom prst="roundRect">
            <a:avLst>
              <a:gd name="adj" fmla="val 102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17606" y="2343031"/>
            <a:ext cx="6540698" cy="44481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7671078" y="2442686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70C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Setting</a:t>
            </a:r>
            <a:endParaRPr lang="en-US" sz="1200" b="1" dirty="0">
              <a:solidFill>
                <a:srgbClr val="0070C0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945178" y="2442686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0070C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Description</a:t>
            </a:r>
            <a:endParaRPr lang="en-US" sz="1200" b="1" dirty="0">
              <a:solidFill>
                <a:srgbClr val="0070C0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517606" y="2787848"/>
            <a:ext cx="6540698" cy="44481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671078" y="2887504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Rows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45178" y="2887504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Number of maze rows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517606" y="3232666"/>
            <a:ext cx="6540698" cy="44481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7" name="Text 15"/>
          <p:cNvSpPr/>
          <p:nvPr/>
        </p:nvSpPr>
        <p:spPr>
          <a:xfrm>
            <a:off x="7671078" y="3332321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Cols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945178" y="3332321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Number of maze columns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517606" y="3677483"/>
            <a:ext cx="6540698" cy="444818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20" name="Text 18"/>
          <p:cNvSpPr/>
          <p:nvPr/>
        </p:nvSpPr>
        <p:spPr>
          <a:xfrm>
            <a:off x="7671078" y="3777139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Vision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945178" y="3777139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Player visibility radius (tiles)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517606" y="4122301"/>
            <a:ext cx="6540698" cy="444818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23" name="Text 21"/>
          <p:cNvSpPr/>
          <p:nvPr/>
        </p:nvSpPr>
        <p:spPr>
          <a:xfrm>
            <a:off x="7671078" y="4221956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Tile Size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945178" y="4221956"/>
            <a:ext cx="2959775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Size of each maze tile in pixels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2095" y="4977289"/>
            <a:ext cx="3068360" cy="383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Controls</a:t>
            </a:r>
            <a:endParaRPr lang="en-US" sz="24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2095" y="5590818"/>
            <a:ext cx="13486209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Up / Down Arrow – Navigate settings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2095" y="5890022"/>
            <a:ext cx="13486209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Left / Right Arrow – Modify values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72095" y="6189226"/>
            <a:ext cx="13486209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Enter – Save configuration and start game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72095" y="6488430"/>
            <a:ext cx="13486209" cy="2455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Esc – Exit menu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72095" y="6963966"/>
            <a:ext cx="3068360" cy="3835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Configuration Saving</a:t>
            </a:r>
            <a:endParaRPr lang="en-US" sz="24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2095" y="7577495"/>
            <a:ext cx="13486209" cy="25312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</a:t>
            </a:r>
            <a:r>
              <a:rPr lang="en-US" sz="12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save_config()</a:t>
            </a: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function writes the selected values to </a:t>
            </a:r>
            <a:r>
              <a:rPr lang="en-US" sz="12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config.py</a:t>
            </a: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, which is imported by </a:t>
            </a:r>
            <a:r>
              <a:rPr lang="en-US" sz="12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game.py</a:t>
            </a: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at runtime.</a:t>
            </a:r>
            <a:endParaRPr lang="en-US" sz="12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2095" y="686872"/>
            <a:ext cx="4955977" cy="49565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game.py – Core Gameplay</a:t>
            </a:r>
            <a:endParaRPr lang="en-US" sz="31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72095" y="1499830"/>
            <a:ext cx="13486209" cy="2538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This file contains the main game loop, rendering logic, player movement, and interactions.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72095" y="1932146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72095" y="2178844"/>
            <a:ext cx="4389596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6" name="Text 4"/>
          <p:cNvSpPr/>
          <p:nvPr/>
        </p:nvSpPr>
        <p:spPr>
          <a:xfrm>
            <a:off x="572095" y="2303859"/>
            <a:ext cx="19832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Initialization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72095" y="2646878"/>
            <a:ext cx="4389596" cy="7615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Initializes Pygame and audio mixer. Loads background music and starts looping playback. Loads configuration values from </a:t>
            </a:r>
            <a:r>
              <a:rPr lang="en-US" sz="12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config.py</a:t>
            </a: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200" b="1" dirty="0"/>
          </a:p>
        </p:txBody>
      </p:sp>
      <p:sp>
        <p:nvSpPr>
          <p:cNvPr id="8" name="Text 6"/>
          <p:cNvSpPr/>
          <p:nvPr/>
        </p:nvSpPr>
        <p:spPr>
          <a:xfrm>
            <a:off x="5120283" y="1932146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20283" y="2178844"/>
            <a:ext cx="4389715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10" name="Text 8"/>
          <p:cNvSpPr/>
          <p:nvPr/>
        </p:nvSpPr>
        <p:spPr>
          <a:xfrm>
            <a:off x="5120283" y="2303859"/>
            <a:ext cx="19832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Maze Generation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20283" y="2646878"/>
            <a:ext cx="4389715" cy="126920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maze is generated using a depth-first search (DFS) algorithm with bias against long straight paths and additional random loops for complexity. Functions involved: </a:t>
            </a:r>
            <a:r>
              <a:rPr lang="en-US" sz="12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generate_maze()</a:t>
            </a: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– Creates the main maze structure, </a:t>
            </a:r>
            <a:r>
              <a:rPr lang="en-US" sz="12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add_loops()</a:t>
            </a: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– Adds alternative paths.</a:t>
            </a:r>
            <a:endParaRPr lang="en-US" sz="1200" b="1" dirty="0"/>
          </a:p>
        </p:txBody>
      </p:sp>
      <p:sp>
        <p:nvSpPr>
          <p:cNvPr id="12" name="Text 10"/>
          <p:cNvSpPr/>
          <p:nvPr/>
        </p:nvSpPr>
        <p:spPr>
          <a:xfrm>
            <a:off x="9668589" y="1932146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668589" y="2178844"/>
            <a:ext cx="4389715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14" name="Text 12"/>
          <p:cNvSpPr/>
          <p:nvPr/>
        </p:nvSpPr>
        <p:spPr>
          <a:xfrm>
            <a:off x="9668589" y="2303859"/>
            <a:ext cx="19832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Start and Exit Points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668589" y="2646878"/>
            <a:ext cx="4389715" cy="7615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Start position is fixed at (0, 0). Exit is determined using Breadth-First Search (BFS) to find the farthest reachable tile.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2095" y="4193619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04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72095" y="4440317"/>
            <a:ext cx="4389596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18" name="Text 16"/>
          <p:cNvSpPr/>
          <p:nvPr/>
        </p:nvSpPr>
        <p:spPr>
          <a:xfrm>
            <a:off x="572095" y="4565333"/>
            <a:ext cx="19832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Player Movement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72095" y="4908352"/>
            <a:ext cx="4389596" cy="7615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Controlled using WASD or Arrow Keys. Movement is tile-based and time-delayed (</a:t>
            </a:r>
            <a:r>
              <a:rPr lang="en-US" sz="12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MOVE_DELAY</a:t>
            </a: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). Player position is tracked along with two ghost positions for visual trailing.</a:t>
            </a:r>
            <a:endParaRPr lang="en-US" sz="1200" b="1" dirty="0"/>
          </a:p>
        </p:txBody>
      </p:sp>
      <p:sp>
        <p:nvSpPr>
          <p:cNvPr id="20" name="Text 18"/>
          <p:cNvSpPr/>
          <p:nvPr/>
        </p:nvSpPr>
        <p:spPr>
          <a:xfrm>
            <a:off x="5120283" y="4193619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05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120283" y="4440317"/>
            <a:ext cx="4389715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22" name="Text 20"/>
          <p:cNvSpPr/>
          <p:nvPr/>
        </p:nvSpPr>
        <p:spPr>
          <a:xfrm>
            <a:off x="5120283" y="4565333"/>
            <a:ext cx="19832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Monster Behavior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20283" y="4908352"/>
            <a:ext cx="4389715" cy="7615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Monster starts at the maze exit. Moves toward the player using A* pathfinding. Speed is controlled by </a:t>
            </a:r>
            <a:r>
              <a:rPr lang="en-US" sz="12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monsterspeed</a:t>
            </a: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 Leaves a short visual trail.</a:t>
            </a:r>
            <a:endParaRPr lang="en-US" sz="1200" b="1" dirty="0"/>
          </a:p>
        </p:txBody>
      </p:sp>
      <p:sp>
        <p:nvSpPr>
          <p:cNvPr id="24" name="Text 22"/>
          <p:cNvSpPr/>
          <p:nvPr/>
        </p:nvSpPr>
        <p:spPr>
          <a:xfrm>
            <a:off x="9668589" y="4193619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06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668589" y="4440317"/>
            <a:ext cx="4389715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26" name="Text 24"/>
          <p:cNvSpPr/>
          <p:nvPr/>
        </p:nvSpPr>
        <p:spPr>
          <a:xfrm>
            <a:off x="9668589" y="4565333"/>
            <a:ext cx="19832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Camera System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68589" y="4908352"/>
            <a:ext cx="4389715" cy="7615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Smooth camera interpolation toward the player. Camera movement is clamped to maze boundaries. Fog camera lags slightly for cinematic effect.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72095" y="5947410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07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72095" y="6194108"/>
            <a:ext cx="4389596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30" name="Text 28"/>
          <p:cNvSpPr/>
          <p:nvPr/>
        </p:nvSpPr>
        <p:spPr>
          <a:xfrm>
            <a:off x="572095" y="6319123"/>
            <a:ext cx="19832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Fog of War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2095" y="6662142"/>
            <a:ext cx="4389596" cy="7615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Darkness overlay covers unexplored areas. Circular vision radius around player. Smaller vision radius around monster. Smooth fade-out at edges.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20283" y="5947410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08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120283" y="6194108"/>
            <a:ext cx="4389715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34" name="Text 32"/>
          <p:cNvSpPr/>
          <p:nvPr/>
        </p:nvSpPr>
        <p:spPr>
          <a:xfrm>
            <a:off x="5120283" y="6319123"/>
            <a:ext cx="19832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UI Elements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20283" y="6662142"/>
            <a:ext cx="4389715" cy="5076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Mute Button (Top-Right) – Toggles background music. Exit Button (Top-Left) – Closes the game.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668589" y="5947410"/>
            <a:ext cx="158591" cy="1982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09</a:t>
            </a:r>
            <a:endParaRPr lang="en-US" sz="1200" b="1" dirty="0">
              <a:solidFill>
                <a:srgbClr val="161613"/>
              </a:solidFill>
              <a:latin typeface="DM Sans Light" pitchFamily="34" charset="0"/>
              <a:ea typeface="DM Sans Light" pitchFamily="34" charset="-122"/>
              <a:cs typeface="DM Sans Light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68589" y="6194108"/>
            <a:ext cx="4389715" cy="22860"/>
          </a:xfrm>
          <a:prstGeom prst="rect">
            <a:avLst/>
          </a:prstGeom>
          <a:solidFill>
            <a:srgbClr val="28282F"/>
          </a:solidFill>
        </p:spPr>
      </p:sp>
      <p:sp>
        <p:nvSpPr>
          <p:cNvPr id="38" name="Text 36"/>
          <p:cNvSpPr/>
          <p:nvPr/>
        </p:nvSpPr>
        <p:spPr>
          <a:xfrm>
            <a:off x="9668589" y="6319123"/>
            <a:ext cx="2323624" cy="24788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Win and Lose Conditions</a:t>
            </a:r>
            <a:endParaRPr lang="en-US" sz="1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668589" y="6662142"/>
            <a:ext cx="4389715" cy="5076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Win: Player reaches the exit tile. Lose: Monster reaches the player.</a:t>
            </a:r>
            <a:endParaRPr lang="en-US" sz="12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5909" y="476131"/>
            <a:ext cx="6712625" cy="5411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monster_ai.py – AI &amp; Pathfinding</a:t>
            </a:r>
            <a:endParaRPr lang="en-US" sz="34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5909" y="1363504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This module implements the monster’s decision-making logic.</a:t>
            </a:r>
            <a:endParaRPr lang="en-US" sz="13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5909" y="1900118"/>
            <a:ext cx="3462814" cy="4327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Algorithm Used: A*</a:t>
            </a:r>
            <a:endParaRPr lang="en-US" sz="27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5909" y="2592586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monster uses the A* search algorithm, which combines:</a:t>
            </a:r>
            <a:endParaRPr lang="en-US" sz="13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5909" y="3064193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Actual path cost from the start (g)</a:t>
            </a:r>
            <a:endParaRPr lang="en-US" sz="13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05909" y="3401616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Heuristic distance to the goal (h)</a:t>
            </a:r>
            <a:endParaRPr lang="en-US" sz="13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5909" y="3938230"/>
            <a:ext cx="3462814" cy="4327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Heuristic Function</a:t>
            </a:r>
            <a:endParaRPr lang="en-US" sz="27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5909" y="4630698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abs(x1 - x2) + abs(y1 - y2)</a:t>
            </a:r>
            <a:endParaRPr lang="en-US" sz="1350" b="1" dirty="0">
              <a:solidFill>
                <a:srgbClr val="161613"/>
              </a:solidFill>
              <a:highlight>
                <a:srgbClr val="ECEBE8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5909" y="5102304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Manhattan distance is used since movement is grid-based.</a:t>
            </a:r>
            <a:endParaRPr lang="en-US" sz="135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05909" y="5638919"/>
            <a:ext cx="3462814" cy="43279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Core Functions</a:t>
            </a:r>
            <a:endParaRPr lang="en-US" sz="27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05909" y="6331387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distance(a, b)</a:t>
            </a: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– Heuristic calculation</a:t>
            </a:r>
            <a:endParaRPr lang="en-US" sz="1350" b="1" dirty="0"/>
          </a:p>
        </p:txBody>
      </p:sp>
      <p:sp>
        <p:nvSpPr>
          <p:cNvPr id="13" name="Text 11"/>
          <p:cNvSpPr/>
          <p:nvPr/>
        </p:nvSpPr>
        <p:spPr>
          <a:xfrm>
            <a:off x="605909" y="6668810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identify(start, goal, maze)</a:t>
            </a: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– Computes optimal path</a:t>
            </a:r>
            <a:endParaRPr lang="en-US" sz="1350" b="1" dirty="0"/>
          </a:p>
        </p:txBody>
      </p:sp>
      <p:sp>
        <p:nvSpPr>
          <p:cNvPr id="14" name="Text 12"/>
          <p:cNvSpPr/>
          <p:nvPr/>
        </p:nvSpPr>
        <p:spPr>
          <a:xfrm>
            <a:off x="605909" y="7006233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SzPct val="100000"/>
              <a:buNone/>
            </a:pPr>
            <a:r>
              <a:rPr lang="en-US" sz="135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move(monstersight, playersight, maze)</a:t>
            </a: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 – Returns one-tile movement direction</a:t>
            </a:r>
            <a:endParaRPr lang="en-US" sz="1350" b="1" dirty="0"/>
          </a:p>
        </p:txBody>
      </p:sp>
      <p:sp>
        <p:nvSpPr>
          <p:cNvPr id="15" name="Text 13"/>
          <p:cNvSpPr/>
          <p:nvPr/>
        </p:nvSpPr>
        <p:spPr>
          <a:xfrm>
            <a:off x="605909" y="7477839"/>
            <a:ext cx="13418582" cy="2769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The monster only moves one tile per update to allow speed control in </a:t>
            </a:r>
            <a:r>
              <a:rPr lang="en-US" sz="135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game.py</a:t>
            </a:r>
            <a:r>
              <a:rPr lang="en-US" sz="135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.</a:t>
            </a:r>
            <a:endParaRPr lang="en-US" sz="135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2053828"/>
            <a:ext cx="6172200" cy="7715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Controls Summary</a:t>
            </a:r>
            <a:endParaRPr lang="en-US" sz="48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64037" y="3319105"/>
            <a:ext cx="12902327" cy="2856547"/>
          </a:xfrm>
          <a:prstGeom prst="roundRect">
            <a:avLst>
              <a:gd name="adj" fmla="val 1296"/>
            </a:avLst>
          </a:prstGeom>
          <a:noFill/>
          <a:ln w="1524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9277" y="3334345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</p:spPr>
        <p:txBody>
          <a:bodyPr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26093" y="3490079"/>
            <a:ext cx="5938480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0070C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Action</a:t>
            </a:r>
            <a:endParaRPr lang="en-US" sz="1900" b="1" dirty="0">
              <a:solidFill>
                <a:srgbClr val="0070C0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65827" y="3490079"/>
            <a:ext cx="5938480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0070C0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Key</a:t>
            </a:r>
            <a:endParaRPr lang="en-US" sz="1900" b="1" dirty="0">
              <a:solidFill>
                <a:srgbClr val="0070C0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79277" y="4040862"/>
            <a:ext cx="12871847" cy="70651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126093" y="4196596"/>
            <a:ext cx="5938480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Move</a:t>
            </a:r>
            <a:endParaRPr lang="en-US" sz="19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65827" y="4196596"/>
            <a:ext cx="5938480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WASD / Arrow Keys</a:t>
            </a:r>
            <a:endParaRPr lang="en-US" sz="19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79277" y="4747379"/>
            <a:ext cx="12871847" cy="706517"/>
          </a:xfrm>
          <a:prstGeom prst="rect">
            <a:avLst/>
          </a:prstGeom>
          <a:solidFill>
            <a:srgbClr val="FFFFFF">
              <a:alpha val="4000"/>
            </a:srgbClr>
          </a:solidFill>
        </p:spPr>
      </p:sp>
      <p:sp>
        <p:nvSpPr>
          <p:cNvPr id="11" name="Text 9"/>
          <p:cNvSpPr/>
          <p:nvPr/>
        </p:nvSpPr>
        <p:spPr>
          <a:xfrm>
            <a:off x="1126093" y="4903113"/>
            <a:ext cx="5938480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Mute Music</a:t>
            </a:r>
            <a:endParaRPr lang="en-US" sz="19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565827" y="4903113"/>
            <a:ext cx="5938480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M</a:t>
            </a:r>
            <a:endParaRPr lang="en-US" sz="19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79277" y="5453896"/>
            <a:ext cx="12871847" cy="706517"/>
          </a:xfrm>
          <a:prstGeom prst="rect">
            <a:avLst/>
          </a:prstGeom>
          <a:solidFill>
            <a:srgbClr val="000000">
              <a:alpha val="4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1126093" y="5609630"/>
            <a:ext cx="5938480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Exit Game</a:t>
            </a:r>
            <a:endParaRPr lang="en-US" sz="19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65827" y="5609630"/>
            <a:ext cx="5938480" cy="3950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ESC or Exit Button</a:t>
            </a:r>
            <a:endParaRPr lang="en-US" sz="19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9501" y="604599"/>
            <a:ext cx="5569625" cy="6871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Future Improvements</a:t>
            </a:r>
            <a:endParaRPr lang="en-US" sz="430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892" y="1738134"/>
            <a:ext cx="329803" cy="329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83995" y="1731407"/>
            <a:ext cx="2748439" cy="343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Multiple Monsters</a:t>
            </a:r>
            <a:endParaRPr lang="en-US" sz="21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83995" y="2206823"/>
            <a:ext cx="12376904" cy="351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With different AI behaviors.</a:t>
            </a:r>
            <a:endParaRPr lang="en-US" sz="17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892" y="3005078"/>
            <a:ext cx="329803" cy="32980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3995" y="2998351"/>
            <a:ext cx="2748439" cy="343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Player Abilities</a:t>
            </a:r>
            <a:endParaRPr lang="en-US" sz="21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483995" y="3473767"/>
            <a:ext cx="12376904" cy="351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Sprint, hide, traps, and more.</a:t>
            </a:r>
            <a:endParaRPr lang="en-US" sz="17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892" y="4272022"/>
            <a:ext cx="329803" cy="32980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83995" y="4265295"/>
            <a:ext cx="2748439" cy="343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Difficulty Scaling</a:t>
            </a:r>
            <a:endParaRPr lang="en-US" sz="21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483995" y="4740712"/>
            <a:ext cx="12376904" cy="351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Adjust game difficulty dynamically.</a:t>
            </a:r>
            <a:endParaRPr lang="en-US" sz="17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892" y="5538966"/>
            <a:ext cx="329803" cy="32980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83995" y="5532239"/>
            <a:ext cx="4223385" cy="343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Mini-map or Memory-based Fog</a:t>
            </a:r>
            <a:endParaRPr lang="en-US" sz="21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1483995" y="6007656"/>
            <a:ext cx="12376904" cy="351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Enhanced navigation and exploration.</a:t>
            </a:r>
            <a:endParaRPr lang="en-US" sz="17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1892" y="6805910"/>
            <a:ext cx="329803" cy="32980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83995" y="6799183"/>
            <a:ext cx="3897273" cy="3434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Sound Effects and Animations</a:t>
            </a:r>
            <a:endParaRPr lang="en-US" sz="21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1483995" y="7274600"/>
            <a:ext cx="12376904" cy="3518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For a richer sensory experience.</a:t>
            </a:r>
            <a:endParaRPr lang="en-US" sz="17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40" y="639842"/>
            <a:ext cx="8333899" cy="7258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Dependencies and Conclusion</a:t>
            </a:r>
            <a:endParaRPr lang="en-US" sz="45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840" y="1458516"/>
            <a:ext cx="4645223" cy="580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Dependencies</a:t>
            </a:r>
            <a:endParaRPr lang="en-US" sz="36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840" y="2387560"/>
            <a:ext cx="13004721" cy="371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Python 3.x</a:t>
            </a:r>
            <a:endParaRPr lang="en-US" sz="18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12840" y="2840355"/>
            <a:ext cx="13004721" cy="371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sz="18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Pygame</a:t>
            </a:r>
            <a:endParaRPr lang="en-US" sz="18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12840" y="3473172"/>
            <a:ext cx="13004721" cy="371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Install Pygame:</a:t>
            </a:r>
            <a:endParaRPr lang="en-US" sz="18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2840" y="4105989"/>
            <a:ext cx="13004721" cy="1091565"/>
          </a:xfrm>
          <a:prstGeom prst="roundRect">
            <a:avLst>
              <a:gd name="adj" fmla="val 3192"/>
            </a:avLst>
          </a:prstGeom>
          <a:solidFill>
            <a:srgbClr val="ECEBE8"/>
          </a:solidFill>
        </p:spPr>
      </p:sp>
      <p:sp>
        <p:nvSpPr>
          <p:cNvPr id="8" name="Shape 6"/>
          <p:cNvSpPr/>
          <p:nvPr/>
        </p:nvSpPr>
        <p:spPr>
          <a:xfrm>
            <a:off x="801291" y="4105989"/>
            <a:ext cx="13027819" cy="1091565"/>
          </a:xfrm>
          <a:prstGeom prst="roundRect">
            <a:avLst>
              <a:gd name="adj" fmla="val 3192"/>
            </a:avLst>
          </a:prstGeom>
          <a:solidFill>
            <a:srgbClr val="ECEBE8"/>
          </a:solidFill>
        </p:spPr>
      </p:sp>
      <p:sp>
        <p:nvSpPr>
          <p:cNvPr id="9" name="Text 7"/>
          <p:cNvSpPr/>
          <p:nvPr/>
        </p:nvSpPr>
        <p:spPr>
          <a:xfrm>
            <a:off x="1033462" y="4280178"/>
            <a:ext cx="12563475" cy="7431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161613"/>
                </a:solidFill>
                <a:highlight>
                  <a:srgbClr val="ECEBE8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pip install pygame
</a:t>
            </a:r>
            <a:endParaRPr lang="en-US" sz="1800" b="1" dirty="0">
              <a:solidFill>
                <a:srgbClr val="161613"/>
              </a:solidFill>
              <a:highlight>
                <a:srgbClr val="ECEBE8"/>
              </a:highlight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12840" y="5278715"/>
            <a:ext cx="13004721" cy="371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altLang="en-US" sz="18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Ensure all project files are in the same directory.</a:t>
            </a:r>
            <a:endParaRPr lang="en-US" altLang="en-US" sz="18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12840" y="5731510"/>
            <a:ext cx="13004721" cy="3715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altLang="en-US" sz="18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Run the menu file using: python menu.py</a:t>
            </a:r>
            <a:endParaRPr lang="en-US" altLang="en-US" sz="18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  <a:p>
            <a:pPr marL="342900" indent="-342900" algn="l">
              <a:lnSpc>
                <a:spcPts val="2900"/>
              </a:lnSpc>
              <a:buSzPct val="100000"/>
              <a:buChar char="•"/>
            </a:pPr>
            <a:r>
              <a:rPr lang="en-US" altLang="en-US" sz="18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Adjust settings if desired and press ENTER to start the game.</a:t>
            </a:r>
            <a:endParaRPr lang="en-US" altLang="en-US" sz="18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Text 8"/>
          <p:cNvSpPr/>
          <p:nvPr/>
        </p:nvSpPr>
        <p:spPr>
          <a:xfrm>
            <a:off x="812840" y="5545931"/>
            <a:ext cx="4645223" cy="580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Conclusion</a:t>
            </a:r>
            <a:endParaRPr lang="en-US" sz="36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12840" y="6474976"/>
            <a:ext cx="13004721" cy="11147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b="1" dirty="0">
                <a:solidFill>
                  <a:srgbClr val="161613"/>
                </a:solidFill>
                <a:latin typeface="Inter" panose="02000503000000020004" pitchFamily="34" charset="0"/>
                <a:ea typeface="Inter" panose="02000503000000020004" pitchFamily="34" charset="-122"/>
                <a:cs typeface="Inter" panose="02000503000000020004" pitchFamily="34" charset="-120"/>
              </a:rPr>
              <a:t>This project demonstrates procedural content generation, real-time pathfinding AI, and advanced visual effects using Pygame. The modular structure allows easy expansion and experimentation with AI behaviors and gameplay mechanics.</a:t>
            </a:r>
            <a:endParaRPr lang="en-US" sz="18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812800" y="1413510"/>
            <a:ext cx="13004165" cy="4131945"/>
          </a:xfrm>
          <a:prstGeom prst="rect">
            <a:avLst/>
          </a:prstGeom>
        </p:spPr>
        <p:txBody>
          <a:bodyPr wrap="square">
            <a:noAutofit/>
          </a:bodyPr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sz="1600" b="1">
                <a:latin typeface="Cambria" panose="02040503050406030204"/>
                <a:ea typeface="ＭＳ 明朝"/>
              </a:rPr>
              <a:t>• Maze Validity Test: Ensured all generated mazes are solvable.</a:t>
            </a:r>
            <a:endParaRPr sz="1600" b="1">
              <a:latin typeface="Cambria" panose="02040503050406030204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endParaRPr sz="1600" b="1">
              <a:latin typeface="Cambria" panose="02040503050406030204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sz="1600" b="1">
                <a:latin typeface="Cambria" panose="02040503050406030204"/>
                <a:ea typeface="ＭＳ 明朝"/>
              </a:rPr>
              <a:t>• Monster Pathfinding Test: Verified that the monster successfully follows the player.</a:t>
            </a:r>
            <a:endParaRPr sz="1600" b="1">
              <a:latin typeface="Cambria" panose="02040503050406030204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endParaRPr sz="1600" b="1">
              <a:latin typeface="Cambria" panose="02040503050406030204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sz="1600" b="1">
                <a:latin typeface="Cambria" panose="02040503050406030204"/>
                <a:ea typeface="ＭＳ 明朝"/>
              </a:rPr>
              <a:t>• Collision Test: Confirmed correct behavior when the player is caught or reaches the exit.</a:t>
            </a:r>
            <a:endParaRPr sz="1600" b="1">
              <a:latin typeface="Cambria" panose="02040503050406030204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endParaRPr sz="1600" b="1">
              <a:latin typeface="Cambria" panose="02040503050406030204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sz="1600" b="1">
                <a:latin typeface="Cambria" panose="02040503050406030204"/>
                <a:ea typeface="ＭＳ 明朝"/>
              </a:rPr>
              <a:t>• Performance Test: Maintained stable performance at 60 FPS.</a:t>
            </a:r>
            <a:endParaRPr sz="1600" b="1">
              <a:latin typeface="Cambria" panose="02040503050406030204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endParaRPr sz="1600" b="1">
              <a:latin typeface="Cambria" panose="02040503050406030204"/>
              <a:ea typeface="ＭＳ 明朝"/>
            </a:endParaRPr>
          </a:p>
          <a:p>
            <a:pPr defTabSz="266700">
              <a:lnSpc>
                <a:spcPct val="114000"/>
              </a:lnSpc>
              <a:spcAft>
                <a:spcPts val="1000"/>
              </a:spcAft>
            </a:pPr>
            <a:r>
              <a:rPr sz="1600" b="1">
                <a:latin typeface="Cambria" panose="02040503050406030204"/>
                <a:ea typeface="ＭＳ 明朝"/>
              </a:rPr>
              <a:t>All tests produced the expected results without critical errors.</a:t>
            </a:r>
            <a:endParaRPr sz="1600" b="1">
              <a:latin typeface="Cambria" panose="02040503050406030204"/>
              <a:ea typeface="ＭＳ 明朝"/>
            </a:endParaRPr>
          </a:p>
        </p:txBody>
      </p:sp>
      <p:sp>
        <p:nvSpPr>
          <p:cNvPr id="5" name="Text 8"/>
          <p:cNvSpPr/>
          <p:nvPr/>
        </p:nvSpPr>
        <p:spPr>
          <a:xfrm>
            <a:off x="812840" y="605631"/>
            <a:ext cx="4645223" cy="58066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161613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Testing Results</a:t>
            </a:r>
            <a:endParaRPr lang="en-US" sz="3650" b="1" dirty="0">
              <a:solidFill>
                <a:srgbClr val="161613"/>
              </a:solidFill>
              <a:latin typeface="DM Sans Medium" pitchFamily="34" charset="0"/>
              <a:ea typeface="DM Sans Medium" pitchFamily="34" charset="-122"/>
              <a:cs typeface="DM Sans Medium" pitchFamily="34" charset="-120"/>
            </a:endParaRPr>
          </a:p>
        </p:txBody>
      </p:sp>
      <p:sp>
        <p:nvSpPr>
          <p:cNvPr id="7" name="Text 9"/>
          <p:cNvSpPr/>
          <p:nvPr/>
        </p:nvSpPr>
        <p:spPr>
          <a:xfrm>
            <a:off x="812840" y="1573411"/>
            <a:ext cx="13004721" cy="111478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endParaRPr lang="en-US" sz="1800" b="1" dirty="0">
              <a:solidFill>
                <a:srgbClr val="161613"/>
              </a:solidFill>
              <a:latin typeface="Inter" panose="02000503000000020004" pitchFamily="34" charset="0"/>
              <a:ea typeface="Inter" panose="02000503000000020004" pitchFamily="34" charset="-122"/>
              <a:cs typeface="Inter" panose="020005030000000200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2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3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4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5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6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7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8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9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10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ags/tag11.xml><?xml version="1.0" encoding="utf-8"?>
<p:tagLst xmlns:p="http://schemas.openxmlformats.org/presentationml/2006/main">
  <p:tag name="KSO_WM_DIAGRAM_VIRTUALLY_FRAME" val="{&quot;height&quot;:310.9155905511811,&quot;left&quot;:68.03440944881889,&quot;top&quot;:328.7344094488189,&quot;width&quot;:1015.931181102362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5392</Words>
  <Application>WPS Presentation</Application>
  <PresentationFormat>Widescreen</PresentationFormat>
  <Paragraphs>277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8" baseType="lpstr">
      <vt:lpstr>Arial</vt:lpstr>
      <vt:lpstr>SimSun</vt:lpstr>
      <vt:lpstr>Wingdings</vt:lpstr>
      <vt:lpstr>DM Sans Medium</vt:lpstr>
      <vt:lpstr>Segoe Print</vt:lpstr>
      <vt:lpstr>DM Sans Medium</vt:lpstr>
      <vt:lpstr>DM Sans Medium</vt:lpstr>
      <vt:lpstr>Inter</vt:lpstr>
      <vt:lpstr>Inter</vt:lpstr>
      <vt:lpstr>Inter</vt:lpstr>
      <vt:lpstr>Arial Black</vt:lpstr>
      <vt:lpstr>Consolas</vt:lpstr>
      <vt:lpstr>Consolas</vt:lpstr>
      <vt:lpstr>Consolas</vt:lpstr>
      <vt:lpstr>DM Sans Light</vt:lpstr>
      <vt:lpstr>DM Sans Light</vt:lpstr>
      <vt:lpstr>DM Sans Light</vt:lpstr>
      <vt:lpstr>Cambria</vt:lpstr>
      <vt:lpstr>ＭＳ 明朝</vt:lpstr>
      <vt:lpstr>Source Sans Pro</vt:lpstr>
      <vt:lpstr>Microsoft YaHei</vt:lpstr>
      <vt:lpstr>Arial Unicode MS</vt:lpstr>
      <vt:lpstr>Calibri Light</vt:lpstr>
      <vt:lpstr>Calibri</vt:lpstr>
      <vt:lpstr>MingLiU-ExtB</vt:lpstr>
      <vt:lpstr>PMingLiU-ExtB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GWG 2</cp:lastModifiedBy>
  <cp:revision>5</cp:revision>
  <dcterms:created xsi:type="dcterms:W3CDTF">2025-07-23T00:59:00Z</dcterms:created>
  <dcterms:modified xsi:type="dcterms:W3CDTF">2025-12-19T19:11:13Z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74D4CED5ACE448A28A0CED8D2520477D_11</vt:lpwstr>
  </property>
  <property fmtid="{D5CDD505-2E9C-101B-9397-08002B2CF9AE}" pid="3" name="KSOProductBuildVer">
    <vt:lpwstr>1033-12.2.0.23149</vt:lpwstr>
  </property>
</Properties>
</file>